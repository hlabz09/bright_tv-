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Number of Viewers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Viewers by Region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Unclassified</c:v>
                </c:pt>
                <c:pt idx="9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3654.0</c:v>
                </c:pt>
                <c:pt idx="1">
                  <c:v>1845.0</c:v>
                </c:pt>
                <c:pt idx="2">
                  <c:v>1001.0</c:v>
                </c:pt>
                <c:pt idx="3">
                  <c:v>918.0</c:v>
                </c:pt>
                <c:pt idx="4">
                  <c:v>763.0</c:v>
                </c:pt>
                <c:pt idx="5">
                  <c:v>690.0</c:v>
                </c:pt>
                <c:pt idx="6">
                  <c:v>344.0</c:v>
                </c:pt>
                <c:pt idx="7">
                  <c:v>292.0</c:v>
                </c:pt>
                <c:pt idx="8">
                  <c:v>263.0</c:v>
                </c:pt>
                <c:pt idx="9">
                  <c:v>230.0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Channels by Viewership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Channels by Viewership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E! Entertainment</c:v>
                </c:pt>
                <c:pt idx="1">
                  <c:v>CNN</c:v>
                </c:pt>
                <c:pt idx="2">
                  <c:v>Boomerang</c:v>
                </c:pt>
                <c:pt idx="3">
                  <c:v>Cartoon Network</c:v>
                </c:pt>
                <c:pt idx="4">
                  <c:v>Africa Magic</c:v>
                </c:pt>
                <c:pt idx="5">
                  <c:v>SuperSport Blitz</c:v>
                </c:pt>
                <c:pt idx="6">
                  <c:v>Trace TV</c:v>
                </c:pt>
                <c:pt idx="7">
                  <c:v>Channel O</c:v>
                </c:pt>
                <c:pt idx="8">
                  <c:v>ICC Cricket World Cup 2011</c:v>
                </c:pt>
                <c:pt idx="9">
                  <c:v>Live Events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367.0</c:v>
                </c:pt>
                <c:pt idx="1">
                  <c:v>505.0</c:v>
                </c:pt>
                <c:pt idx="2">
                  <c:v>714.0</c:v>
                </c:pt>
                <c:pt idx="3">
                  <c:v>793.0</c:v>
                </c:pt>
                <c:pt idx="4">
                  <c:v>859.0</c:v>
                </c:pt>
                <c:pt idx="5">
                  <c:v>896.0</c:v>
                </c:pt>
                <c:pt idx="6">
                  <c:v>952.0</c:v>
                </c:pt>
                <c:pt idx="7">
                  <c:v>1050.0</c:v>
                </c:pt>
                <c:pt idx="8">
                  <c:v>1465.0</c:v>
                </c:pt>
                <c:pt idx="9">
                  <c:v>1771.0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Viewing Records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 by Month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2016-01</c:v>
                </c:pt>
                <c:pt idx="1">
                  <c:v>2016-02</c:v>
                </c:pt>
                <c:pt idx="2">
                  <c:v>2016-03</c:v>
                </c:pt>
                <c:pt idx="3">
                  <c:v>2016-04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2199.0</c:v>
                </c:pt>
                <c:pt idx="1">
                  <c:v>2980.0</c:v>
                </c:pt>
                <c:pt idx="2">
                  <c:v>4816.0</c:v>
                </c:pt>
                <c:pt idx="3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Records by Viewing-Time Quartile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 by Viewing-Time Quartile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2922.0</c:v>
                </c:pt>
                <c:pt idx="1">
                  <c:v>2459.0</c:v>
                </c:pt>
                <c:pt idx="2">
                  <c:v>2550.0</c:v>
                </c:pt>
                <c:pt idx="3">
                  <c:v>2069.0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Bright TV Dashboard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Viewership analysis, charts and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Executive Presentation</a:t>
            </a:r>
          </a:p>
          <a:p>
            <a:pPr algn="ctr">
              <a:defRPr sz="1800"/>
            </a:pPr>
            <a:r>
              <a:t>Dataset: Data  •  Records analysed: 10,000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analysis contains 10,000 viewing records.</a:t>
            </a:r>
          </a:p>
          <a:p>
            <a:pPr>
              <a:spcAft>
                <a:spcPts val="1200"/>
              </a:spcAft>
              <a:defRPr sz="1800"/>
            </a:pPr>
            <a:r>
              <a:t>The dashboard highlights audience distribution, channel performance and viewing behaviour.</a:t>
            </a:r>
          </a:p>
          <a:p>
            <a:pPr>
              <a:spcAft>
                <a:spcPts val="1200"/>
              </a:spcAft>
              <a:defRPr sz="1800"/>
            </a:pPr>
            <a:r>
              <a:t>Regional and demographic differences can be used to improve content targeting.</a:t>
            </a:r>
          </a:p>
          <a:p>
            <a:pPr>
              <a:spcAft>
                <a:spcPts val="1200"/>
              </a:spcAft>
              <a:defRPr sz="1800"/>
            </a:pPr>
            <a:r>
              <a:t>Time-based viewing patterns help identify stronger periods for programming and advertising.</a:t>
            </a:r>
          </a:p>
          <a:p>
            <a:pPr>
              <a:spcAft>
                <a:spcPts val="1200"/>
              </a:spcAft>
              <a:defRPr sz="1800"/>
            </a:pPr>
            <a:r>
              <a:t>The recommendations focus on using the strongest audience segments while improving weaker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Viewership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6995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9560" y="1325880"/>
            <a:ext cx="37033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COMMENTS / INSIGHTS</a:t>
            </a:r>
          </a:p>
          <a:p>
            <a:pPr>
              <a:spcAft>
                <a:spcPts val="700"/>
              </a:spcAft>
              <a:defRPr sz="1200"/>
            </a:pPr>
            <a:r>
              <a:t>• Gauteng has the largest audience share (36.5%).</a:t>
            </a:r>
          </a:p>
          <a:p>
            <a:pPr>
              <a:spcAft>
                <a:spcPts val="700"/>
              </a:spcAft>
              <a:defRPr sz="1200"/>
            </a:pPr>
            <a:r>
              <a:t>• This indicates where audience reach is currently strongest.</a:t>
            </a:r>
          </a:p>
          <a:p>
            <a:pPr>
              <a:spcAft>
                <a:spcPts val="700"/>
              </a:spcAft>
              <a:defRPr sz="1200"/>
            </a:pPr>
            <a:r>
              <a:t>• Regional programming and advertising can be prioritised around high-performing areas.</a:t>
            </a:r>
          </a:p>
          <a:p>
            <a:pPr>
              <a:spcAft>
                <a:spcPts val="700"/>
              </a:spcAft>
              <a:defRPr sz="1200"/>
            </a:pPr>
            <a:r>
              <a:t>• Lower-performing regions should be investigated for content or reach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Top TV Channels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7132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9560" y="1325880"/>
            <a:ext cx="37033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COMMENTS / INSIGHTS</a:t>
            </a:r>
          </a:p>
          <a:p>
            <a:pPr>
              <a:spcAft>
                <a:spcPts val="700"/>
              </a:spcAft>
              <a:defRPr sz="1200"/>
            </a:pPr>
            <a:r>
              <a:t>• Live Events is the highest-viewed channel in the dataset.</a:t>
            </a:r>
          </a:p>
          <a:p>
            <a:pPr>
              <a:spcAft>
                <a:spcPts val="700"/>
              </a:spcAft>
              <a:defRPr sz="1200"/>
            </a:pPr>
            <a:r>
              <a:t>• Strong channel performance suggests higher audience engagement.</a:t>
            </a:r>
          </a:p>
          <a:p>
            <a:pPr>
              <a:spcAft>
                <a:spcPts val="700"/>
              </a:spcAft>
              <a:defRPr sz="1200"/>
            </a:pPr>
            <a:r>
              <a:t>• Top channels can be used as benchmarks for programming and advertising strategy.</a:t>
            </a:r>
          </a:p>
          <a:p>
            <a:pPr>
              <a:spcAft>
                <a:spcPts val="700"/>
              </a:spcAft>
              <a:defRPr sz="1200"/>
            </a:pPr>
            <a:r>
              <a:t>• Review weaker channels for content mix and audience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Viewing Trend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6995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9560" y="1325880"/>
            <a:ext cx="37033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COMMENTS / INSIGHTS</a:t>
            </a:r>
          </a:p>
          <a:p>
            <a:pPr>
              <a:spcAft>
                <a:spcPts val="700"/>
              </a:spcAft>
              <a:defRPr sz="1200"/>
            </a:pPr>
            <a:r>
              <a:t>• The strongest month in the dataset is 2016-03.</a:t>
            </a:r>
          </a:p>
          <a:p>
            <a:pPr>
              <a:spcAft>
                <a:spcPts val="700"/>
              </a:spcAft>
              <a:defRPr sz="1200"/>
            </a:pPr>
            <a:r>
              <a:t>• The trend helps identify periods of higher audience activity.</a:t>
            </a:r>
          </a:p>
          <a:p>
            <a:pPr>
              <a:spcAft>
                <a:spcPts val="700"/>
              </a:spcAft>
              <a:defRPr sz="1200"/>
            </a:pPr>
            <a:r>
              <a:t>• Programming and advertising campaigns can be aligned with stronger periods.</a:t>
            </a:r>
          </a:p>
          <a:p>
            <a:pPr>
              <a:spcAft>
                <a:spcPts val="700"/>
              </a:spcAft>
              <a:defRPr sz="1200"/>
            </a:pPr>
            <a:r>
              <a:t>• Investigate major peaks and dips for operational or content-related causes.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Viewing Time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6995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09560" y="1325880"/>
            <a:ext cx="37033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COMMENTS / INSIGHTS</a:t>
            </a:r>
          </a:p>
          <a:p>
            <a:pPr>
              <a:spcAft>
                <a:spcPts val="700"/>
              </a:spcAft>
              <a:defRPr sz="1200"/>
            </a:pPr>
            <a:r>
              <a:t>• Average viewing measure: 14.44.</a:t>
            </a:r>
          </a:p>
          <a:p>
            <a:pPr>
              <a:spcAft>
                <a:spcPts val="700"/>
              </a:spcAft>
              <a:defRPr sz="1200"/>
            </a:pPr>
            <a:r>
              <a:t>• Median viewing measure: 15.00.</a:t>
            </a:r>
          </a:p>
          <a:p>
            <a:pPr>
              <a:spcAft>
                <a:spcPts val="700"/>
              </a:spcAft>
              <a:defRPr sz="1200"/>
            </a:pPr>
            <a:r>
              <a:t>• Quartiles show how viewing behaviour is distributed across the audience.</a:t>
            </a:r>
          </a:p>
          <a:p>
            <a:pPr>
              <a:spcAft>
                <a:spcPts val="700"/>
              </a:spcAft>
              <a:defRPr sz="1200"/>
            </a:pPr>
            <a:r>
              <a:t>• Longer viewing groups may represent highly engaged viewers.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Key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Focus programming and promotional activity on the strongest-performing audience segments.</a:t>
            </a:r>
          </a:p>
          <a:p>
            <a:pPr>
              <a:spcAft>
                <a:spcPts val="1200"/>
              </a:spcAft>
              <a:defRPr sz="1800"/>
            </a:pPr>
            <a:r>
              <a:t>Use regional performance to tailor content and advertising strategies.</a:t>
            </a:r>
          </a:p>
          <a:p>
            <a:pPr>
              <a:spcAft>
                <a:spcPts val="1200"/>
              </a:spcAft>
              <a:defRPr sz="1800"/>
            </a:pPr>
            <a:r>
              <a:t>Study the top-performing channels to identify content patterns that can be replicated.</a:t>
            </a:r>
          </a:p>
          <a:p>
            <a:pPr>
              <a:spcAft>
                <a:spcPts val="1200"/>
              </a:spcAft>
              <a:defRPr sz="1800"/>
            </a:pPr>
            <a:r>
              <a:t>Schedule major campaigns around periods with stronger viewing activity.</a:t>
            </a:r>
          </a:p>
          <a:p>
            <a:pPr>
              <a:spcAft>
                <a:spcPts val="1200"/>
              </a:spcAft>
              <a:defRPr sz="1800"/>
            </a:pPr>
            <a:r>
              <a:t>Monitor age-group performance regularly to keep content aligned with audience needs.</a:t>
            </a:r>
          </a:p>
          <a:p>
            <a:pPr>
              <a:spcAft>
                <a:spcPts val="1200"/>
              </a:spcAft>
              <a:defRPr sz="1800"/>
            </a:pPr>
            <a:r>
              <a:t>Use the dashboard as a recurring reporting tool to track changes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Audience performance varies across regions and TV channels.</a:t>
            </a:r>
          </a:p>
          <a:p>
            <a:pPr>
              <a:spcAft>
                <a:spcPts val="1400"/>
              </a:spcAft>
              <a:defRPr sz="1800"/>
            </a:pPr>
            <a:r>
              <a:t>• The strongest-performing channel provides a useful benchmark for viewer engagement.</a:t>
            </a:r>
          </a:p>
          <a:p>
            <a:pPr>
              <a:spcAft>
                <a:spcPts val="1400"/>
              </a:spcAft>
              <a:defRPr sz="1800"/>
            </a:pPr>
            <a:r>
              <a:t>• Demographic patterns help identify the most important audience segments.</a:t>
            </a:r>
          </a:p>
          <a:p>
            <a:pPr>
              <a:spcAft>
                <a:spcPts val="1400"/>
              </a:spcAft>
              <a:defRPr sz="1800"/>
            </a:pPr>
            <a:r>
              <a:t>• Viewing activity changes over time, creating opportunities for targeted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Audience &amp; Content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Use regional performance to tailor programming and promotional activity.</a:t>
            </a:r>
          </a:p>
          <a:p>
            <a:pPr>
              <a:spcAft>
                <a:spcPts val="1400"/>
              </a:spcAft>
              <a:defRPr sz="1800"/>
            </a:pPr>
            <a:r>
              <a:t>• Prioritise content that attracts the largest and most engaged audience groups.</a:t>
            </a:r>
          </a:p>
          <a:p>
            <a:pPr>
              <a:spcAft>
                <a:spcPts val="1400"/>
              </a:spcAft>
              <a:defRPr sz="1800"/>
            </a:pPr>
            <a:r>
              <a:t>• Compare channel performance to identify successful programming patterns.</a:t>
            </a:r>
          </a:p>
          <a:p>
            <a:pPr>
              <a:spcAft>
                <a:spcPts val="1400"/>
              </a:spcAft>
              <a:defRPr sz="1800"/>
            </a:pPr>
            <a:r>
              <a:t>• Use demographic insights to improve audience targeting.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Viewing Behaviour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Time-based trends can identify stronger periods for audience engagement.</a:t>
            </a:r>
          </a:p>
          <a:p>
            <a:pPr>
              <a:spcAft>
                <a:spcPts val="1400"/>
              </a:spcAft>
              <a:defRPr sz="1800"/>
            </a:pPr>
            <a:r>
              <a:t>• Day-of-week patterns can support better programme scheduling.</a:t>
            </a:r>
          </a:p>
          <a:p>
            <a:pPr>
              <a:spcAft>
                <a:spcPts val="1400"/>
              </a:spcAft>
              <a:defRPr sz="1800"/>
            </a:pPr>
            <a:r>
              <a:t>• Viewing-time distribution helps distinguish highly engaged viewers from lighter viewers.</a:t>
            </a:r>
          </a:p>
          <a:p>
            <a:pPr>
              <a:spcAft>
                <a:spcPts val="1400"/>
              </a:spcAft>
              <a:defRPr sz="1800"/>
            </a:pPr>
            <a:r>
              <a:t>• Monitor changes over time rather than relying on a single reporting period.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Focus advertising and promotions on high-performing channels and regions.</a:t>
            </a:r>
          </a:p>
          <a:p>
            <a:pPr>
              <a:spcAft>
                <a:spcPts val="1400"/>
              </a:spcAft>
              <a:defRPr sz="1800"/>
            </a:pPr>
            <a:r>
              <a:t>• Develop content strategies around the strongest audience segments.</a:t>
            </a:r>
          </a:p>
          <a:p>
            <a:pPr>
              <a:spcAft>
                <a:spcPts val="1400"/>
              </a:spcAft>
              <a:defRPr sz="1800"/>
            </a:pPr>
            <a:r>
              <a:t>• Schedule major campaigns during periods of higher viewing activity.</a:t>
            </a:r>
          </a:p>
          <a:p>
            <a:pPr>
              <a:spcAft>
                <a:spcPts val="1400"/>
              </a:spcAft>
              <a:defRPr sz="1800"/>
            </a:pPr>
            <a:r>
              <a:t>• Investigate weaker-performing segments for opportunities to improve reach.</a:t>
            </a:r>
          </a:p>
          <a:p>
            <a:pPr>
              <a:spcAft>
                <a:spcPts val="1400"/>
              </a:spcAft>
              <a:defRPr sz="1800"/>
            </a:pPr>
            <a:r>
              <a:t>• Refresh the dashboard regularly to support data-driven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The Bright TV dashboard provides a clear view of audience and viewing behaviour.</a:t>
            </a:r>
          </a:p>
          <a:p>
            <a:pPr>
              <a:spcAft>
                <a:spcPts val="1400"/>
              </a:spcAft>
              <a:defRPr sz="1800"/>
            </a:pPr>
            <a:r>
              <a:t>• Charts make regional, channel, demographic and time-based patterns easier to understand.</a:t>
            </a:r>
          </a:p>
          <a:p>
            <a:pPr>
              <a:spcAft>
                <a:spcPts val="1400"/>
              </a:spcAft>
              <a:defRPr sz="1800"/>
            </a:pPr>
            <a:r>
              <a:t>• The insights can support programming, marketing and advertising decisions.</a:t>
            </a:r>
          </a:p>
          <a:p>
            <a:pPr>
              <a:spcAft>
                <a:spcPts val="1400"/>
              </a:spcAft>
              <a:defRPr sz="1800"/>
            </a:pPr>
            <a:r>
              <a:t>• Ongoing monitoring will help Bright TV respond to changing viewer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